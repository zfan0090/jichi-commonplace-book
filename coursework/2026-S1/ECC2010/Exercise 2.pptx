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9"/>
  </p:notesMasterIdLst>
  <p:sldIdLst>
    <p:sldId id="258" r:id="rId4"/>
    <p:sldId id="270" r:id="rId5"/>
    <p:sldId id="259" r:id="rId6"/>
    <p:sldId id="260" r:id="rId7"/>
    <p:sldId id="268" r:id="rId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29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00"/>
        <p:guide pos="290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0030" y="182880"/>
            <a:ext cx="8661654" cy="36576"/>
          </a:xfrm>
          <a:prstGeom prst="rect">
            <a:avLst/>
          </a:prstGeom>
          <a:solidFill>
            <a:srgbClr val="F3A13B"/>
          </a:solidFill>
          <a:ln w="12700">
            <a:solidFill>
              <a:srgbClr val="F3A1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26580" y="292608"/>
            <a:ext cx="18516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A8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ECX/Topic 2–4 linked analysis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377190" y="6400800"/>
            <a:ext cx="8366760" cy="0"/>
          </a:xfrm>
          <a:prstGeom prst="line">
            <a:avLst/>
          </a:prstGeom>
          <a:noFill/>
          <a:ln w="12700">
            <a:solidFill>
              <a:srgbClr val="D8D8D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464808"/>
            <a:ext cx="205740" cy="164592"/>
          </a:xfrm>
          <a:prstGeom prst="rect">
            <a:avLst/>
          </a:prstGeom>
        </p:spPr>
        <p:txBody>
          <a:bodyPr/>
          <a:lstStyle>
            <a:lvl1pPr>
              <a:defRPr sz="675">
                <a:solidFill>
                  <a:srgbClr val="8A8A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32"/>
          <p:cNvSpPr/>
          <p:nvPr>
            <p:custDataLst>
              <p:tags r:id="rId1"/>
            </p:custDataLst>
          </p:nvPr>
        </p:nvSpPr>
        <p:spPr>
          <a:xfrm>
            <a:off x="6732270" y="5300980"/>
            <a:ext cx="2160270" cy="473710"/>
          </a:xfrm>
          <a:custGeom>
            <a:avLst/>
            <a:gdLst/>
            <a:ahLst/>
            <a:cxnLst/>
            <a:rect l="l" t="t" r="r" b="b"/>
            <a:pathLst>
              <a:path w="5471944" h="1121748">
                <a:moveTo>
                  <a:pt x="0" y="0"/>
                </a:moveTo>
                <a:lnTo>
                  <a:pt x="5471944" y="0"/>
                </a:lnTo>
                <a:lnTo>
                  <a:pt x="5471944" y="1121748"/>
                </a:lnTo>
                <a:lnTo>
                  <a:pt x="0" y="112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>
            <p:custDataLst>
              <p:tags r:id="rId4"/>
            </p:custDataLst>
          </p:nvPr>
        </p:nvSpPr>
        <p:spPr>
          <a:xfrm>
            <a:off x="6588760" y="4772660"/>
            <a:ext cx="2226945" cy="445135"/>
          </a:xfrm>
          <a:custGeom>
            <a:avLst/>
            <a:gdLst/>
            <a:ahLst/>
            <a:cxnLst/>
            <a:rect l="l" t="t" r="r" b="b"/>
            <a:pathLst>
              <a:path w="5471944" h="1121748">
                <a:moveTo>
                  <a:pt x="0" y="0"/>
                </a:moveTo>
                <a:lnTo>
                  <a:pt x="5471944" y="0"/>
                </a:lnTo>
                <a:lnTo>
                  <a:pt x="5471944" y="1121748"/>
                </a:lnTo>
                <a:lnTo>
                  <a:pt x="0" y="112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8"/>
          <p:cNvSpPr txBox="1"/>
          <p:nvPr/>
        </p:nvSpPr>
        <p:spPr>
          <a:xfrm>
            <a:off x="539750" y="332105"/>
            <a:ext cx="8540750" cy="5727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algn="l" fontAlgn="auto">
              <a:lnSpc>
                <a:spcPts val="3000"/>
              </a:lnSpc>
              <a:buClrTx/>
              <a:buSzTx/>
              <a:buNone/>
            </a:pPr>
            <a:r>
              <a:rPr lang="en-US" altLang="zh-CN" sz="3000" dirty="0">
                <a:solidFill>
                  <a:srgbClr val="EC6A2C"/>
                </a:solidFill>
                <a:latin typeface="Inter" panose="02000803000000020004" charset="0"/>
                <a:ea typeface="Inter" panose="02000803000000020004" charset="0"/>
                <a:cs typeface="Inter" panose="02000803000000020004" charset="0"/>
                <a:sym typeface="Inter" panose="02000803000000020004" charset="0"/>
              </a:rPr>
              <a:t>The Uneven Labor Market Impact of Technological Change</a:t>
            </a:r>
            <a:endParaRPr lang="en-US" altLang="zh-CN" sz="3000" dirty="0">
              <a:solidFill>
                <a:srgbClr val="EC6A2C"/>
              </a:solidFill>
              <a:latin typeface="Inter" panose="02000803000000020004" charset="0"/>
              <a:ea typeface="Inter" panose="02000803000000020004" charset="0"/>
              <a:cs typeface="Inter" panose="02000803000000020004" charset="0"/>
              <a:sym typeface="Inter" panose="0200080300000002000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7020560" y="5333365"/>
            <a:ext cx="285305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35954396</a:t>
            </a:r>
            <a:endParaRPr lang="en-US" altLang="zh-CN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6948805" y="4725035"/>
            <a:ext cx="263906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Zhiqi Fang</a:t>
            </a:r>
            <a:endParaRPr lang="en-US" altLang="zh-CN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Freeform 33"/>
          <p:cNvSpPr/>
          <p:nvPr>
            <p:custDataLst>
              <p:tags r:id="rId7"/>
            </p:custDataLst>
          </p:nvPr>
        </p:nvSpPr>
        <p:spPr>
          <a:xfrm>
            <a:off x="6805295" y="2298700"/>
            <a:ext cx="1748155" cy="2199640"/>
          </a:xfrm>
          <a:custGeom>
            <a:avLst/>
            <a:gdLst/>
            <a:ahLst/>
            <a:cxnLst/>
            <a:rect l="l" t="t" r="r" b="b"/>
            <a:pathLst>
              <a:path w="6393903" h="6968831">
                <a:moveTo>
                  <a:pt x="0" y="0"/>
                </a:moveTo>
                <a:lnTo>
                  <a:pt x="6393903" y="0"/>
                </a:lnTo>
                <a:lnTo>
                  <a:pt x="6393903" y="6968831"/>
                </a:lnTo>
                <a:lnTo>
                  <a:pt x="0" y="6968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2726055" y="836930"/>
            <a:ext cx="641794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lnSpc>
                <a:spcPts val="3000"/>
              </a:lnSpc>
              <a:buClrTx/>
              <a:buSzTx/>
              <a:buNone/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00803000000020004" charset="0"/>
                <a:ea typeface="Inter" panose="02000803000000020004" charset="0"/>
                <a:cs typeface="Inter" panose="02000803000000020004" charset="0"/>
                <a:sym typeface="Inter" panose="02000803000000020004" charset="0"/>
              </a:rPr>
              <a:t>---A Macroeconomic Analysis of Industrial Robots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" panose="02000803000000020004" charset="0"/>
              <a:ea typeface="Inter" panose="02000803000000020004" charset="0"/>
              <a:cs typeface="Inter" panose="02000803000000020004" charset="0"/>
              <a:sym typeface="Inter" panose="020008030000000200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95" y="1484630"/>
            <a:ext cx="5981700" cy="46507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1910" y="760095"/>
            <a:ext cx="9106535" cy="565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</p:spPr>
      </p:sp>
      <p:pic>
        <p:nvPicPr>
          <p:cNvPr id="4" name="Image 0" descr="/tmp/ex2/ppt/media/image5.png"/>
          <p:cNvPicPr>
            <a:picLocks noChangeAspect="1"/>
          </p:cNvPicPr>
          <p:nvPr/>
        </p:nvPicPr>
        <p:blipFill>
          <a:blip r:embed="rId1"/>
          <a:srcRect l="9964" t="737" r="26817" b="-1455"/>
          <a:stretch>
            <a:fillRect/>
          </a:stretch>
        </p:blipFill>
        <p:spPr>
          <a:xfrm>
            <a:off x="179705" y="2132330"/>
            <a:ext cx="4066540" cy="38785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28490" y="1003300"/>
            <a:ext cx="4600575" cy="3618230"/>
          </a:xfrm>
          <a:prstGeom prst="rect">
            <a:avLst/>
          </a:prstGeom>
          <a:solidFill>
            <a:srgbClr val="F1EFE8">
              <a:alpha val="82000"/>
            </a:srgbClr>
          </a:solidFill>
          <a:ln w="12700">
            <a:solidFill>
              <a:srgbClr val="F1EFE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0245" y="1330960"/>
            <a:ext cx="4460240" cy="801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7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Uneven Labor Market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07F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Effects of Technological Change</a:t>
            </a:r>
            <a:endParaRPr lang="en-US" sz="2400" b="1" dirty="0">
              <a:solidFill>
                <a:srgbClr val="F07F2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93260" y="2299970"/>
            <a:ext cx="4351655" cy="291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Macroeconomic Analysis of Industrial Robots</a:t>
            </a:r>
            <a:endParaRPr lang="en-US" sz="1400" dirty="0">
              <a:solidFill>
                <a:srgbClr val="1D1D1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93260" y="2687320"/>
            <a:ext cx="2319020" cy="635"/>
          </a:xfrm>
          <a:prstGeom prst="line">
            <a:avLst/>
          </a:prstGeom>
          <a:noFill/>
          <a:ln w="12700">
            <a:solidFill>
              <a:srgbClr val="F07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16145" y="2896870"/>
            <a:ext cx="1956435" cy="524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Zhiqi Fang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35954396</a:t>
            </a:r>
            <a:endParaRPr lang="en-US" sz="1400" dirty="0">
              <a:solidFill>
                <a:srgbClr val="1D1D1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0" y="3630295"/>
            <a:ext cx="4090670" cy="868045"/>
          </a:xfrm>
          <a:prstGeom prst="roundRect">
            <a:avLst>
              <a:gd name="adj" fmla="val 5714"/>
            </a:avLst>
          </a:prstGeom>
          <a:solidFill>
            <a:srgbClr val="FFF8D4"/>
          </a:solidFill>
          <a:ln w="12700">
            <a:solidFill>
              <a:srgbClr val="F6D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4235" y="3801110"/>
            <a:ext cx="3885565" cy="4222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</a:rPr>
              <a:t>Focus: productivity, labour demand, unequal employment effects, and macroeconomic policy.</a:t>
            </a:r>
            <a:endParaRPr lang="en-US" sz="1400" dirty="0">
              <a:solidFill>
                <a:srgbClr val="1D1D1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83011">
            <a:off x="6466205" y="3939540"/>
            <a:ext cx="1740535" cy="2625090"/>
          </a:xfrm>
          <a:custGeom>
            <a:avLst/>
            <a:gdLst/>
            <a:ahLst/>
            <a:cxnLst/>
            <a:rect l="l" t="t" r="r" b="b"/>
            <a:pathLst>
              <a:path w="6220318" h="8886168">
                <a:moveTo>
                  <a:pt x="0" y="0"/>
                </a:moveTo>
                <a:lnTo>
                  <a:pt x="6220318" y="0"/>
                </a:lnTo>
                <a:lnTo>
                  <a:pt x="6220318" y="8886168"/>
                </a:lnTo>
                <a:lnTo>
                  <a:pt x="0" y="888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6619240" y="5111750"/>
            <a:ext cx="2207260" cy="1600835"/>
          </a:xfrm>
          <a:custGeom>
            <a:avLst/>
            <a:gdLst/>
            <a:ahLst/>
            <a:cxnLst/>
            <a:rect l="l" t="t" r="r" b="b"/>
            <a:pathLst>
              <a:path w="6799369" h="5229333">
                <a:moveTo>
                  <a:pt x="0" y="0"/>
                </a:moveTo>
                <a:lnTo>
                  <a:pt x="6799369" y="0"/>
                </a:lnTo>
                <a:lnTo>
                  <a:pt x="6799369" y="5229332"/>
                </a:lnTo>
                <a:lnTo>
                  <a:pt x="0" y="5229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25500" y="550545"/>
            <a:ext cx="7488555" cy="765175"/>
            <a:chOff x="0" y="0"/>
            <a:chExt cx="1404621" cy="2999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4621" cy="299964"/>
            </a:xfrm>
            <a:custGeom>
              <a:avLst/>
              <a:gdLst/>
              <a:ahLst/>
              <a:cxnLst/>
              <a:rect l="l" t="t" r="r" b="b"/>
              <a:pathLst>
                <a:path w="1404621" h="299964">
                  <a:moveTo>
                    <a:pt x="0" y="0"/>
                  </a:moveTo>
                  <a:lnTo>
                    <a:pt x="1404621" y="0"/>
                  </a:lnTo>
                  <a:lnTo>
                    <a:pt x="1404621" y="299964"/>
                  </a:lnTo>
                  <a:lnTo>
                    <a:pt x="0" y="299964"/>
                  </a:lnTo>
                  <a:close/>
                </a:path>
              </a:pathLst>
            </a:custGeom>
            <a:solidFill>
              <a:srgbClr val="F7CE4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404621" cy="35711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3500"/>
                </a:lnSpc>
              </a:pPr>
              <a:endParaRPr sz="10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09955" y="692785"/>
            <a:ext cx="7404100" cy="5016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Is the Phenomenon?</a:t>
            </a: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3" name="Group 5"/>
          <p:cNvGrpSpPr/>
          <p:nvPr>
            <p:custDataLst>
              <p:tags r:id="rId5"/>
            </p:custDataLst>
          </p:nvPr>
        </p:nvGrpSpPr>
        <p:grpSpPr>
          <a:xfrm>
            <a:off x="1605915" y="4490720"/>
            <a:ext cx="914400" cy="707390"/>
            <a:chOff x="157992" y="2906981"/>
            <a:chExt cx="914770" cy="812800"/>
          </a:xfrm>
        </p:grpSpPr>
        <p:sp>
          <p:nvSpPr>
            <p:cNvPr id="24" name="Freeform 6"/>
            <p:cNvSpPr/>
            <p:nvPr>
              <p:custDataLst>
                <p:tags r:id="rId6"/>
              </p:custDataLst>
            </p:nvPr>
          </p:nvSpPr>
          <p:spPr>
            <a:xfrm>
              <a:off x="157992" y="2906981"/>
              <a:ext cx="806141" cy="812800"/>
            </a:xfrm>
            <a:custGeom>
              <a:avLst/>
              <a:gdLst/>
              <a:ahLst/>
              <a:cxnLst/>
              <a:rect l="l" t="t" r="r" b="b"/>
              <a:pathLst>
                <a:path w="806141" h="812800">
                  <a:moveTo>
                    <a:pt x="403070" y="0"/>
                  </a:moveTo>
                  <a:cubicBezTo>
                    <a:pt x="180461" y="0"/>
                    <a:pt x="0" y="181951"/>
                    <a:pt x="0" y="406400"/>
                  </a:cubicBezTo>
                  <a:cubicBezTo>
                    <a:pt x="0" y="630849"/>
                    <a:pt x="180461" y="812800"/>
                    <a:pt x="403070" y="812800"/>
                  </a:cubicBezTo>
                  <a:cubicBezTo>
                    <a:pt x="625680" y="812800"/>
                    <a:pt x="806141" y="630849"/>
                    <a:pt x="806141" y="406400"/>
                  </a:cubicBezTo>
                  <a:cubicBezTo>
                    <a:pt x="806141" y="181951"/>
                    <a:pt x="625680" y="0"/>
                    <a:pt x="403070" y="0"/>
                  </a:cubicBezTo>
                  <a:close/>
                </a:path>
              </a:pathLst>
            </a:custGeom>
            <a:solidFill>
              <a:srgbClr val="EC6A2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7"/>
            <p:cNvSpPr txBox="1"/>
            <p:nvPr>
              <p:custDataLst>
                <p:tags r:id="rId7"/>
              </p:custDataLst>
            </p:nvPr>
          </p:nvSpPr>
          <p:spPr>
            <a:xfrm>
              <a:off x="460374" y="3010587"/>
              <a:ext cx="612388" cy="70919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3500"/>
                </a:lnSpc>
              </a:pPr>
              <a:r>
                <a:rPr lang="en-US" sz="2000" b="1">
                  <a:solidFill>
                    <a:srgbClr val="000000"/>
                  </a:solidFill>
                  <a:latin typeface="Public Sans" charset="0"/>
                  <a:ea typeface="Public Sans" charset="0"/>
                  <a:cs typeface="Public Sans" charset="0"/>
                  <a:sym typeface="Public Sans" charset="0"/>
                </a:rPr>
                <a:t>01</a:t>
              </a:r>
              <a:endParaRPr lang="en-US" sz="2000" b="1">
                <a:solidFill>
                  <a:srgbClr val="000000"/>
                </a:solidFill>
                <a:latin typeface="Public Sans" charset="0"/>
                <a:ea typeface="Public Sans" charset="0"/>
                <a:cs typeface="Public Sans" charset="0"/>
                <a:sym typeface="Public Sans" charset="0"/>
              </a:endParaRPr>
            </a:p>
          </p:txBody>
        </p:sp>
      </p:grp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2700020" y="368014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 </a:t>
            </a:r>
            <a:r>
              <a:rPr lang="en-US" altLang="zh-CN" sz="2800" b="1" i="0">
                <a:solidFill>
                  <a:srgbClr val="EC6A2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Y=AF(K,N)</a:t>
            </a:r>
            <a:endParaRPr lang="en-US" altLang="zh-CN" sz="2800" b="1" i="0">
              <a:solidFill>
                <a:srgbClr val="EC6A2C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899795" y="260350"/>
            <a:ext cx="7477125" cy="73215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auto">
              <a:lnSpc>
                <a:spcPts val="5000"/>
              </a:lnSpc>
              <a:buClrTx/>
              <a:buSzTx/>
              <a:buNone/>
            </a:pPr>
            <a:endParaRPr lang="en-US" altLang="zh-CN" sz="4000" b="1" i="0" spc="-70">
              <a:solidFill>
                <a:srgbClr val="EC6A2C"/>
              </a:solidFill>
              <a:latin typeface="Inter" panose="02000803000000020004" charset="0"/>
              <a:ea typeface="Inter" panose="02000803000000020004" charset="0"/>
              <a:cs typeface="Inter" panose="020008030000000200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>
            <p:custDataLst>
              <p:tags r:id="rId1"/>
            </p:custDataLst>
          </p:nvPr>
        </p:nvSpPr>
        <p:spPr>
          <a:xfrm>
            <a:off x="466725" y="1557020"/>
            <a:ext cx="8209915" cy="3319145"/>
          </a:xfrm>
          <a:custGeom>
            <a:avLst/>
            <a:gdLst/>
            <a:ahLst/>
            <a:cxnLst/>
            <a:rect l="l" t="t" r="r" b="b"/>
            <a:pathLst>
              <a:path w="5471944" h="1121748">
                <a:moveTo>
                  <a:pt x="0" y="0"/>
                </a:moveTo>
                <a:lnTo>
                  <a:pt x="5471944" y="0"/>
                </a:lnTo>
                <a:lnTo>
                  <a:pt x="5471944" y="1121748"/>
                </a:lnTo>
                <a:lnTo>
                  <a:pt x="0" y="112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8"/>
          <p:cNvSpPr txBox="1"/>
          <p:nvPr/>
        </p:nvSpPr>
        <p:spPr>
          <a:xfrm>
            <a:off x="683895" y="2277110"/>
            <a:ext cx="9187180" cy="13652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algn="l" fontAlgn="auto">
              <a:lnSpc>
                <a:spcPts val="9900"/>
              </a:lnSpc>
              <a:buClrTx/>
              <a:buSzTx/>
              <a:buNone/>
            </a:pPr>
            <a:r>
              <a:rPr lang="en-US" sz="6600" b="1" dirty="0">
                <a:solidFill>
                  <a:srgbClr val="EC6A2C"/>
                </a:solidFill>
                <a:latin typeface="Inter" panose="02000803000000020004" charset="0"/>
                <a:ea typeface="Inter" panose="02000803000000020004" charset="0"/>
                <a:cs typeface="Inter" panose="02000803000000020004" charset="0"/>
                <a:sym typeface="Inter" panose="02000803000000020004" charset="0"/>
              </a:rPr>
              <a:t>Thank you for listening</a:t>
            </a:r>
            <a:endParaRPr lang="en-US" sz="6600" b="1" dirty="0">
              <a:solidFill>
                <a:srgbClr val="EC6A2C"/>
              </a:solidFill>
              <a:latin typeface="Inter" panose="02000803000000020004" charset="0"/>
              <a:ea typeface="Inter" panose="02000803000000020004" charset="0"/>
              <a:cs typeface="Inter" panose="02000803000000020004" charset="0"/>
              <a:sym typeface="Inter" panose="020008030000000200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5.25,&quot;left&quot;:33.710551181102346,&quot;top&quot;:122.6,&quot;width&quot;:720.6394488188977}"/>
</p:tagLst>
</file>

<file path=ppt/tags/tag2.xml><?xml version="1.0" encoding="utf-8"?>
<p:tagLst xmlns:p="http://schemas.openxmlformats.org/presentationml/2006/main">
  <p:tag name="KSO_WM_DIAGRAM_VIRTUALLY_FRAME" val="{&quot;height&quot;:435.25,&quot;left&quot;:33.710551181102346,&quot;top&quot;:122.6,&quot;width&quot;:720.6394488188977}"/>
</p:tagLst>
</file>

<file path=ppt/tags/tag3.xml><?xml version="1.0" encoding="utf-8"?>
<p:tagLst xmlns:p="http://schemas.openxmlformats.org/presentationml/2006/main">
  <p:tag name="KSO_WM_DIAGRAM_VIRTUALLY_FRAME" val="{&quot;height&quot;:435.25,&quot;left&quot;:33.710551181102346,&quot;top&quot;:122.6,&quot;width&quot;:720.6394488188977}"/>
</p:tagLst>
</file>

<file path=ppt/tags/tag4.xml><?xml version="1.0" encoding="utf-8"?>
<p:tagLst xmlns:p="http://schemas.openxmlformats.org/presentationml/2006/main">
  <p:tag name="KSO_WM_DIAGRAM_VIRTUALLY_FRAME" val="{&quot;height&quot;:435.25,&quot;left&quot;:33.710551181102346,&quot;top&quot;:122.6,&quot;width&quot;:720.6394488188977}"/>
</p:tagLst>
</file>

<file path=ppt/tags/tag5.xml><?xml version="1.0" encoding="utf-8"?>
<p:tagLst xmlns:p="http://schemas.openxmlformats.org/presentationml/2006/main">
  <p:tag name="KSO_WM_DIAGRAM_VIRTUALLY_FRAME" val="{&quot;height&quot;:435.25,&quot;left&quot;:33.710551181102346,&quot;top&quot;:122.6,&quot;width&quot;:720.6394488188977}"/>
</p:tagLst>
</file>

<file path=ppt/tags/tag6.xml><?xml version="1.0" encoding="utf-8"?>
<p:tagLst xmlns:p="http://schemas.openxmlformats.org/presentationml/2006/main">
  <p:tag name="KSO_WM_DIAGRAM_VIRTUALLY_FRAME" val="{&quot;height&quot;:226.27496062992128,&quot;left&quot;:110.55,&quot;top&quot;:160.27503937007873,&quot;width&quot;:513.4}"/>
</p:tagLst>
</file>

<file path=ppt/tags/tag7.xml><?xml version="1.0" encoding="utf-8"?>
<p:tagLst xmlns:p="http://schemas.openxmlformats.org/presentationml/2006/main">
  <p:tag name="KSO_WM_DIAGRAM_VIRTUALLY_FRAME" val="{&quot;height&quot;:226.27496062992128,&quot;left&quot;:110.55,&quot;top&quot;:160.27503937007873,&quot;width&quot;:513.4}"/>
</p:tagLst>
</file>

<file path=ppt/tags/tag8.xml><?xml version="1.0" encoding="utf-8"?>
<p:tagLst xmlns:p="http://schemas.openxmlformats.org/presentationml/2006/main">
  <p:tag name="KSO_WM_DIAGRAM_VIRTUALLY_FRAME" val="{&quot;height&quot;:226.27496062992128,&quot;left&quot;:110.55,&quot;top&quot;:160.27503937007873,&quot;width&quot;:513.4}"/>
</p:tagLst>
</file>

<file path=ppt/tags/tag9.xml><?xml version="1.0" encoding="utf-8"?>
<p:tagLst xmlns:p="http://schemas.openxmlformats.org/presentationml/2006/main">
  <p:tag name="KSO_WM_DIAGRAM_VIRTUALLY_FRAME" val="{&quot;height&quot;:226.27496062992128,&quot;left&quot;:110.55,&quot;top&quot;:160.27503937007873,&quot;width&quot;:513.4}"/>
</p:tagLst>
</file>

<file path=ppt/tags/tag10.xml><?xml version="1.0" encoding="utf-8"?>
<p:tagLst xmlns:p="http://schemas.openxmlformats.org/presentationml/2006/main">
  <p:tag name="KSO_WM_DIAGRAM_VIRTUALLY_FRAME" val="{&quot;height&quot;:435.25,&quot;left&quot;:33.710551181102346,&quot;top&quot;:122.6,&quot;width&quot;:720.6394488188977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WPS 演示</Application>
  <PresentationFormat/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Inter</vt:lpstr>
      <vt:lpstr>Tw Cen MT Condensed Extra Bold</vt:lpstr>
      <vt:lpstr>Public Sans</vt:lpstr>
      <vt:lpstr>Segoe Print</vt:lpstr>
      <vt:lpstr>quote-cjk-patch</vt:lpstr>
      <vt:lpstr>微软雅黑</vt:lpstr>
      <vt:lpstr>Arial Unicode MS</vt:lpstr>
      <vt:lpstr>Calibri</vt:lpstr>
      <vt:lpstr>Aptos</vt:lpstr>
      <vt:lpstr>Segoe UI</vt:lpstr>
      <vt:lpstr>Aptos</vt:lpstr>
      <vt:lpstr>Aptos</vt:lpstr>
      <vt:lpstr>Aptos Display</vt:lpstr>
      <vt:lpstr>Segoe UI Variable Display</vt:lpstr>
      <vt:lpstr>Aptos Display</vt:lpstr>
      <vt:lpstr>Aptos Display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方芝琪</dc:creator>
  <cp:lastModifiedBy>WPS_1601777203</cp:lastModifiedBy>
  <cp:revision>15</cp:revision>
  <dcterms:created xsi:type="dcterms:W3CDTF">2025-07-23T00:59:00Z</dcterms:created>
  <dcterms:modified xsi:type="dcterms:W3CDTF">2026-04-21T05:37:35Z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4E6A341B20AD403FA1B5B1106BA6293B_13</vt:lpwstr>
  </property>
</Properties>
</file>